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Lfm0O+AZVl6M2O0phtKujufXC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011115" y="1122363"/>
            <a:ext cx="10008577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Проектирование КИХ-ФНЧ методом окон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/>
              <a:t>Купцов М.А.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Задание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3771900" y="3562595"/>
            <a:ext cx="10515600" cy="3764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" name="Google Shape;92;p2"/>
          <p:cNvGrpSpPr/>
          <p:nvPr/>
        </p:nvGrpSpPr>
        <p:grpSpPr>
          <a:xfrm>
            <a:off x="838200" y="1996184"/>
            <a:ext cx="11403105" cy="3764329"/>
            <a:chOff x="946639" y="1458302"/>
            <a:chExt cx="11403105" cy="3764329"/>
          </a:xfrm>
        </p:grpSpPr>
        <p:sp>
          <p:nvSpPr>
            <p:cNvPr id="93" name="Google Shape;93;p2"/>
            <p:cNvSpPr txBox="1"/>
            <p:nvPr/>
          </p:nvSpPr>
          <p:spPr>
            <a:xfrm>
              <a:off x="946639" y="1458302"/>
              <a:ext cx="10515600" cy="3764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-742950" lvl="0" marL="7429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AutoNum type="arabicPeriod"/>
              </a:pPr>
              <a:r>
                <a:rPr b="0" i="0" lang="ru-RU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Спроектировать КИХ-ФНЧ методом окна Хэмминга </a:t>
              </a:r>
              <a:endParaRPr/>
            </a:p>
            <a:p>
              <a:pPr indent="-590550" lvl="0" marL="7429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742950" lvl="0" marL="7429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AutoNum type="arabicPeriod"/>
              </a:pPr>
              <a:r>
                <a:rPr b="0" i="0" lang="ru-RU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Вычислить ИХ, АЧХ, ФЧХ</a:t>
              </a:r>
              <a:endParaRPr/>
            </a:p>
            <a:p>
              <a:pPr indent="-590550" lvl="0" marL="7429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742950" lvl="0" marL="7429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AutoNum type="arabicPeriod"/>
              </a:pPr>
              <a:r>
                <a:rPr b="0" i="0" lang="ru-RU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Исследовать влияние порядка фильтра на: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90550" lvl="0" marL="7429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90550" lvl="0" marL="7429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90550" lvl="0" marL="7429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90550" lvl="0" marL="7429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90550" lvl="0" marL="7429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742950" lvl="0" marL="7429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AutoNum type="arabicPeriod"/>
              </a:pPr>
              <a:r>
                <a:rPr b="0" i="0" lang="ru-RU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Реализовать фильтрацию тестового сигнала и сравнить результат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2366681" y="3198138"/>
              <a:ext cx="9983063" cy="1063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-3429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Char char="•"/>
              </a:pPr>
              <a:r>
                <a:rPr b="0" i="0" lang="ru-RU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ширину переходной полосы </a:t>
              </a:r>
              <a:endParaRPr/>
            </a:p>
            <a:p>
              <a:pPr indent="-3429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Char char="•"/>
              </a:pPr>
              <a:r>
                <a:rPr b="0" i="0" lang="ru-RU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пульсации в полосах пропускания и заграждения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468923" y="294786"/>
            <a:ext cx="1128639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742950" lvl="0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ru-RU" sz="3600">
                <a:latin typeface="Arial"/>
                <a:ea typeface="Arial"/>
                <a:cs typeface="Arial"/>
                <a:sym typeface="Arial"/>
              </a:rPr>
              <a:t>Проектирование КИХ-ФНЧ методом окна Хэмминга </a:t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854319" y="747677"/>
            <a:ext cx="10900996" cy="3764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Входные данные: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Частота дискретизации Fs = 1000 Гц</a:t>
            </a:r>
            <a:endParaRPr/>
          </a:p>
          <a:p>
            <a:pPr indent="-1905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Частота среза Fc = 100 Гц</a:t>
            </a:r>
            <a:endParaRPr/>
          </a:p>
          <a:p>
            <a:pPr indent="-1905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= 61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600" y="2417732"/>
            <a:ext cx="21526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 txBox="1"/>
          <p:nvPr>
            <p:ph type="title"/>
          </p:nvPr>
        </p:nvSpPr>
        <p:spPr>
          <a:xfrm>
            <a:off x="468923" y="294786"/>
            <a:ext cx="1128639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742950" lvl="0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ru-RU" sz="3600">
                <a:latin typeface="Arial"/>
                <a:ea typeface="Arial"/>
                <a:cs typeface="Arial"/>
                <a:sym typeface="Arial"/>
              </a:rPr>
              <a:t>Проектирование КИХ-ФНЧ методом окна Хэмминга </a:t>
            </a:r>
            <a:endParaRPr/>
          </a:p>
        </p:txBody>
      </p:sp>
      <p:sp>
        <p:nvSpPr>
          <p:cNvPr id="107" name="Google Shape;107;p4"/>
          <p:cNvSpPr txBox="1"/>
          <p:nvPr/>
        </p:nvSpPr>
        <p:spPr>
          <a:xfrm>
            <a:off x="767862" y="-386530"/>
            <a:ext cx="10515600" cy="3764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Алгоритм проектирования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" name="Google Shape;108;p4"/>
          <p:cNvGrpSpPr/>
          <p:nvPr/>
        </p:nvGrpSpPr>
        <p:grpSpPr>
          <a:xfrm>
            <a:off x="5960087" y="2175224"/>
            <a:ext cx="4919659" cy="647700"/>
            <a:chOff x="2192218" y="3735265"/>
            <a:chExt cx="4919659" cy="647700"/>
          </a:xfrm>
        </p:grpSpPr>
        <p:pic>
          <p:nvPicPr>
            <p:cNvPr id="109" name="Google Shape;109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05858" y="3735265"/>
              <a:ext cx="2476500" cy="647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502152" y="3930527"/>
              <a:ext cx="1609725" cy="257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192218" y="3859823"/>
              <a:ext cx="791305" cy="3516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" name="Google Shape;112;p4"/>
          <p:cNvSpPr/>
          <p:nvPr/>
        </p:nvSpPr>
        <p:spPr>
          <a:xfrm rot="5400000">
            <a:off x="5335834" y="-1980607"/>
            <a:ext cx="1099038" cy="10706100"/>
          </a:xfrm>
          <a:prstGeom prst="rightBrace">
            <a:avLst>
              <a:gd fmla="val 8333" name="adj1"/>
              <a:gd fmla="val 51396" name="adj2"/>
            </a:avLst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4"/>
          <p:cNvPicPr preferRelativeResize="0"/>
          <p:nvPr/>
        </p:nvPicPr>
        <p:blipFill rotWithShape="1">
          <a:blip r:embed="rId7">
            <a:alphaModFix/>
          </a:blip>
          <a:srcRect b="13077" l="0" r="0" t="0"/>
          <a:stretch/>
        </p:blipFill>
        <p:spPr>
          <a:xfrm>
            <a:off x="3886201" y="4217245"/>
            <a:ext cx="3408924" cy="76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4"/>
          <p:cNvPicPr preferRelativeResize="0"/>
          <p:nvPr/>
        </p:nvPicPr>
        <p:blipFill rotWithShape="1">
          <a:blip r:embed="rId8">
            <a:alphaModFix/>
          </a:blip>
          <a:srcRect b="0" l="44" r="0" t="49096"/>
          <a:stretch/>
        </p:blipFill>
        <p:spPr>
          <a:xfrm>
            <a:off x="1604125" y="1955514"/>
            <a:ext cx="3141855" cy="572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/>
          <p:cNvPicPr preferRelativeResize="0"/>
          <p:nvPr/>
        </p:nvPicPr>
        <p:blipFill rotWithShape="1">
          <a:blip r:embed="rId8">
            <a:alphaModFix/>
          </a:blip>
          <a:srcRect b="51121" l="0" r="76165" t="13985"/>
          <a:stretch/>
        </p:blipFill>
        <p:spPr>
          <a:xfrm>
            <a:off x="705462" y="2025540"/>
            <a:ext cx="749193" cy="392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/>
          <p:cNvPicPr preferRelativeResize="0"/>
          <p:nvPr/>
        </p:nvPicPr>
        <p:blipFill rotWithShape="1">
          <a:blip r:embed="rId8">
            <a:alphaModFix/>
          </a:blip>
          <a:srcRect b="51121" l="0" r="84793" t="13985"/>
          <a:stretch/>
        </p:blipFill>
        <p:spPr>
          <a:xfrm>
            <a:off x="602039" y="2589183"/>
            <a:ext cx="478019" cy="392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468923" y="294786"/>
            <a:ext cx="1128639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742950" lvl="0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ru-RU" sz="3600">
                <a:latin typeface="Arial"/>
                <a:ea typeface="Arial"/>
                <a:cs typeface="Arial"/>
                <a:sym typeface="Arial"/>
              </a:rPr>
              <a:t>Импульсная характеристика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3">
            <a:alphaModFix/>
          </a:blip>
          <a:srcRect b="51000" l="0" r="49333" t="0"/>
          <a:stretch/>
        </p:blipFill>
        <p:spPr>
          <a:xfrm>
            <a:off x="1732990" y="1620348"/>
            <a:ext cx="7353860" cy="4741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468923" y="294786"/>
            <a:ext cx="1128639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742950" lvl="0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ru-RU" sz="3600">
                <a:latin typeface="Arial"/>
                <a:ea typeface="Arial"/>
                <a:cs typeface="Arial"/>
                <a:sym typeface="Arial"/>
              </a:rPr>
              <a:t>АЧХ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6"/>
          <p:cNvPicPr preferRelativeResize="0"/>
          <p:nvPr/>
        </p:nvPicPr>
        <p:blipFill rotWithShape="1">
          <a:blip r:embed="rId3">
            <a:alphaModFix/>
          </a:blip>
          <a:srcRect b="48953" l="49531" r="0" t="0"/>
          <a:stretch/>
        </p:blipFill>
        <p:spPr>
          <a:xfrm>
            <a:off x="1779281" y="1219201"/>
            <a:ext cx="7567919" cy="5103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468923" y="294786"/>
            <a:ext cx="1128639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742950" lvl="0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ru-RU" sz="3600">
                <a:latin typeface="Arial"/>
                <a:ea typeface="Arial"/>
                <a:cs typeface="Arial"/>
                <a:sym typeface="Arial"/>
              </a:rPr>
              <a:t>ФЧХ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7"/>
          <p:cNvPicPr preferRelativeResize="0"/>
          <p:nvPr/>
        </p:nvPicPr>
        <p:blipFill rotWithShape="1">
          <a:blip r:embed="rId3">
            <a:alphaModFix/>
          </a:blip>
          <a:srcRect b="0" l="0" r="49914" t="49903"/>
          <a:stretch/>
        </p:blipFill>
        <p:spPr>
          <a:xfrm>
            <a:off x="1708355" y="1620349"/>
            <a:ext cx="6934200" cy="4623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>
            <p:ph type="title"/>
          </p:nvPr>
        </p:nvSpPr>
        <p:spPr>
          <a:xfrm>
            <a:off x="468923" y="294786"/>
            <a:ext cx="1128639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742950" lvl="0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ru-RU" sz="3600">
                <a:latin typeface="Arial"/>
                <a:ea typeface="Arial"/>
                <a:cs typeface="Arial"/>
                <a:sym typeface="Arial"/>
              </a:rPr>
              <a:t>Исследование влияния порядка фильтра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8"/>
          <p:cNvPicPr preferRelativeResize="0"/>
          <p:nvPr/>
        </p:nvPicPr>
        <p:blipFill rotWithShape="1">
          <a:blip r:embed="rId3">
            <a:alphaModFix/>
          </a:blip>
          <a:srcRect b="0" l="49570" r="0" t="50290"/>
          <a:stretch/>
        </p:blipFill>
        <p:spPr>
          <a:xfrm>
            <a:off x="157700" y="1255525"/>
            <a:ext cx="7581051" cy="4981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8"/>
          <p:cNvPicPr preferRelativeResize="0"/>
          <p:nvPr/>
        </p:nvPicPr>
        <p:blipFill rotWithShape="1">
          <a:blip r:embed="rId4">
            <a:alphaModFix/>
          </a:blip>
          <a:srcRect b="11308" l="4276" r="63084" t="71254"/>
          <a:stretch/>
        </p:blipFill>
        <p:spPr>
          <a:xfrm>
            <a:off x="7463175" y="2745000"/>
            <a:ext cx="6559152" cy="197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/>
          <p:nvPr>
            <p:ph type="title"/>
          </p:nvPr>
        </p:nvSpPr>
        <p:spPr>
          <a:xfrm>
            <a:off x="165100" y="-378314"/>
            <a:ext cx="1128639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742950" lvl="0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ru-RU" sz="3600">
                <a:latin typeface="Arial"/>
                <a:ea typeface="Arial"/>
                <a:cs typeface="Arial"/>
                <a:sym typeface="Arial"/>
              </a:rPr>
              <a:t>Фильтрация тестового сигнала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9"/>
          <p:cNvPicPr preferRelativeResize="0"/>
          <p:nvPr/>
        </p:nvPicPr>
        <p:blipFill rotWithShape="1">
          <a:blip r:embed="rId3">
            <a:alphaModFix/>
          </a:blip>
          <a:srcRect b="33200" l="0" r="0" t="0"/>
          <a:stretch/>
        </p:blipFill>
        <p:spPr>
          <a:xfrm>
            <a:off x="266700" y="495300"/>
            <a:ext cx="11430000" cy="636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 txBox="1"/>
          <p:nvPr>
            <p:ph type="title"/>
          </p:nvPr>
        </p:nvSpPr>
        <p:spPr>
          <a:xfrm>
            <a:off x="165100" y="-378314"/>
            <a:ext cx="1128639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742950" lvl="0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ru-RU" sz="3600">
                <a:latin typeface="Arial"/>
                <a:ea typeface="Arial"/>
                <a:cs typeface="Arial"/>
                <a:sym typeface="Arial"/>
              </a:rPr>
              <a:t>Фильтрация тестового сигнала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10"/>
          <p:cNvPicPr preferRelativeResize="0"/>
          <p:nvPr/>
        </p:nvPicPr>
        <p:blipFill rotWithShape="1">
          <a:blip r:embed="rId3">
            <a:alphaModFix/>
          </a:blip>
          <a:srcRect b="0" l="0" r="0" t="66000"/>
          <a:stretch/>
        </p:blipFill>
        <p:spPr>
          <a:xfrm>
            <a:off x="165100" y="1828800"/>
            <a:ext cx="11430000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 txBox="1"/>
          <p:nvPr>
            <p:ph type="title"/>
          </p:nvPr>
        </p:nvSpPr>
        <p:spPr>
          <a:xfrm>
            <a:off x="3168162" y="2141171"/>
            <a:ext cx="1128639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742950" lvl="0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ru-RU" sz="3600">
                <a:latin typeface="Arial"/>
                <a:ea typeface="Arial"/>
                <a:cs typeface="Arial"/>
                <a:sym typeface="Arial"/>
              </a:rPr>
              <a:t>Спасибо за внимание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2026-05-12T05:43:27Z</dcterms:created>
  <dc:creator>Михаил</dc:creator>
</cp:coreProperties>
</file>